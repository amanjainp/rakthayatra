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5" r:id="rId2"/>
    <p:sldId id="278" r:id="rId3"/>
    <p:sldId id="281" r:id="rId4"/>
    <p:sldId id="279" r:id="rId5"/>
    <p:sldId id="294" r:id="rId6"/>
    <p:sldId id="297" r:id="rId7"/>
    <p:sldId id="298" r:id="rId8"/>
    <p:sldId id="286" r:id="rId9"/>
    <p:sldId id="285" r:id="rId10"/>
    <p:sldId id="284" r:id="rId11"/>
    <p:sldId id="288" r:id="rId12"/>
    <p:sldId id="289" r:id="rId13"/>
    <p:sldId id="290" r:id="rId14"/>
    <p:sldId id="292" r:id="rId15"/>
    <p:sldId id="29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AE4349-50C8-475E-BF33-7B825EA758A3}">
          <p14:sldIdLst>
            <p14:sldId id="275"/>
            <p14:sldId id="278"/>
            <p14:sldId id="281"/>
            <p14:sldId id="279"/>
            <p14:sldId id="294"/>
            <p14:sldId id="297"/>
            <p14:sldId id="298"/>
            <p14:sldId id="286"/>
            <p14:sldId id="285"/>
            <p14:sldId id="284"/>
            <p14:sldId id="288"/>
            <p14:sldId id="289"/>
            <p14:sldId id="290"/>
            <p14:sldId id="292"/>
            <p14:sldId id="293"/>
          </p14:sldIdLst>
        </p14:section>
        <p14:section name="Untitled Section" id="{58A8643A-298D-467D-8F19-BA3868AF86B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3969" autoAdjust="0"/>
  </p:normalViewPr>
  <p:slideViewPr>
    <p:cSldViewPr snapToGrid="0">
      <p:cViewPr varScale="1">
        <p:scale>
          <a:sx n="74" d="100"/>
          <a:sy n="74" d="100"/>
        </p:scale>
        <p:origin x="3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86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Jain P" userId="48247718dbe13526" providerId="LiveId" clId="{D40E7411-9A7A-4494-8B3B-6A85016AABB6}"/>
    <pc:docChg chg="undo custSel modSld sldOrd">
      <pc:chgData name="Aman Jain P" userId="48247718dbe13526" providerId="LiveId" clId="{D40E7411-9A7A-4494-8B3B-6A85016AABB6}" dt="2026-05-17T17:16:08.561" v="80" actId="14100"/>
      <pc:docMkLst>
        <pc:docMk/>
      </pc:docMkLst>
      <pc:sldChg chg="modSp mod">
        <pc:chgData name="Aman Jain P" userId="48247718dbe13526" providerId="LiveId" clId="{D40E7411-9A7A-4494-8B3B-6A85016AABB6}" dt="2026-05-17T07:07:12.907" v="47" actId="122"/>
        <pc:sldMkLst>
          <pc:docMk/>
          <pc:sldMk cId="0" sldId="279"/>
        </pc:sldMkLst>
        <pc:graphicFrameChg chg="modGraphic">
          <ac:chgData name="Aman Jain P" userId="48247718dbe13526" providerId="LiveId" clId="{D40E7411-9A7A-4494-8B3B-6A85016AABB6}" dt="2026-05-17T07:07:12.907" v="47" actId="122"/>
          <ac:graphicFrameMkLst>
            <pc:docMk/>
            <pc:sldMk cId="0" sldId="279"/>
            <ac:graphicFrameMk id="6" creationId="{52CD749F-2B73-5DAE-57BB-05C32D7A1633}"/>
          </ac:graphicFrameMkLst>
        </pc:graphicFrameChg>
        <pc:graphicFrameChg chg="mod modGraphic">
          <ac:chgData name="Aman Jain P" userId="48247718dbe13526" providerId="LiveId" clId="{D40E7411-9A7A-4494-8B3B-6A85016AABB6}" dt="2026-05-17T07:07:10.913" v="46" actId="122"/>
          <ac:graphicFrameMkLst>
            <pc:docMk/>
            <pc:sldMk cId="0" sldId="279"/>
            <ac:graphicFrameMk id="197" creationId="{00000000-0000-0000-0000-000000000000}"/>
          </ac:graphicFrameMkLst>
        </pc:graphicFrameChg>
      </pc:sldChg>
      <pc:sldChg chg="ord">
        <pc:chgData name="Aman Jain P" userId="48247718dbe13526" providerId="LiveId" clId="{D40E7411-9A7A-4494-8B3B-6A85016AABB6}" dt="2026-05-17T07:07:51.658" v="51"/>
        <pc:sldMkLst>
          <pc:docMk/>
          <pc:sldMk cId="3278024654" sldId="288"/>
        </pc:sldMkLst>
      </pc:sldChg>
      <pc:sldChg chg="modSp mod">
        <pc:chgData name="Aman Jain P" userId="48247718dbe13526" providerId="LiveId" clId="{D40E7411-9A7A-4494-8B3B-6A85016AABB6}" dt="2026-05-17T17:16:08.561" v="80" actId="14100"/>
        <pc:sldMkLst>
          <pc:docMk/>
          <pc:sldMk cId="3168456785" sldId="294"/>
        </pc:sldMkLst>
        <pc:graphicFrameChg chg="modGraphic">
          <ac:chgData name="Aman Jain P" userId="48247718dbe13526" providerId="LiveId" clId="{D40E7411-9A7A-4494-8B3B-6A85016AABB6}" dt="2026-05-17T07:06:59.818" v="44" actId="122"/>
          <ac:graphicFrameMkLst>
            <pc:docMk/>
            <pc:sldMk cId="3168456785" sldId="294"/>
            <ac:graphicFrameMk id="2" creationId="{0CA1A311-872F-ADDC-9F20-41DE35AA59AD}"/>
          </ac:graphicFrameMkLst>
        </pc:graphicFrameChg>
        <pc:graphicFrameChg chg="modGraphic">
          <ac:chgData name="Aman Jain P" userId="48247718dbe13526" providerId="LiveId" clId="{D40E7411-9A7A-4494-8B3B-6A85016AABB6}" dt="2026-05-17T07:07:01.908" v="45" actId="122"/>
          <ac:graphicFrameMkLst>
            <pc:docMk/>
            <pc:sldMk cId="3168456785" sldId="294"/>
            <ac:graphicFrameMk id="3" creationId="{9049C8AD-1A1B-30FD-C4BC-774FB6623D80}"/>
          </ac:graphicFrameMkLst>
        </pc:graphicFrameChg>
        <pc:graphicFrameChg chg="mod modGraphic">
          <ac:chgData name="Aman Jain P" userId="48247718dbe13526" providerId="LiveId" clId="{D40E7411-9A7A-4494-8B3B-6A85016AABB6}" dt="2026-05-17T17:16:08.561" v="80" actId="14100"/>
          <ac:graphicFrameMkLst>
            <pc:docMk/>
            <pc:sldMk cId="3168456785" sldId="294"/>
            <ac:graphicFrameMk id="197" creationId="{B5DCC88F-D2EF-BA2C-0B3F-4A362A395595}"/>
          </ac:graphicFrameMkLst>
        </pc:graphicFrameChg>
      </pc:sldChg>
      <pc:sldChg chg="modSp mod">
        <pc:chgData name="Aman Jain P" userId="48247718dbe13526" providerId="LiveId" clId="{D40E7411-9A7A-4494-8B3B-6A85016AABB6}" dt="2026-05-17T07:06:53.988" v="42" actId="122"/>
        <pc:sldMkLst>
          <pc:docMk/>
          <pc:sldMk cId="3964498808" sldId="297"/>
        </pc:sldMkLst>
        <pc:graphicFrameChg chg="modGraphic">
          <ac:chgData name="Aman Jain P" userId="48247718dbe13526" providerId="LiveId" clId="{D40E7411-9A7A-4494-8B3B-6A85016AABB6}" dt="2026-05-17T07:06:53.988" v="42" actId="122"/>
          <ac:graphicFrameMkLst>
            <pc:docMk/>
            <pc:sldMk cId="3964498808" sldId="297"/>
            <ac:graphicFrameMk id="2" creationId="{157D0C59-39CE-DFB7-463D-483CFF2B752E}"/>
          </ac:graphicFrameMkLst>
        </pc:graphicFrameChg>
        <pc:graphicFrameChg chg="modGraphic">
          <ac:chgData name="Aman Jain P" userId="48247718dbe13526" providerId="LiveId" clId="{D40E7411-9A7A-4494-8B3B-6A85016AABB6}" dt="2026-05-17T07:06:49.476" v="41" actId="122"/>
          <ac:graphicFrameMkLst>
            <pc:docMk/>
            <pc:sldMk cId="3964498808" sldId="297"/>
            <ac:graphicFrameMk id="197" creationId="{3AA67E57-C469-8EE7-F97E-9F05FF1B7B80}"/>
          </ac:graphicFrameMkLst>
        </pc:graphicFrameChg>
      </pc:sldChg>
      <pc:sldChg chg="modSp mod">
        <pc:chgData name="Aman Jain P" userId="48247718dbe13526" providerId="LiveId" clId="{D40E7411-9A7A-4494-8B3B-6A85016AABB6}" dt="2026-05-17T07:10:02.618" v="53" actId="20577"/>
        <pc:sldMkLst>
          <pc:docMk/>
          <pc:sldMk cId="1409947831" sldId="298"/>
        </pc:sldMkLst>
        <pc:graphicFrameChg chg="modGraphic">
          <ac:chgData name="Aman Jain P" userId="48247718dbe13526" providerId="LiveId" clId="{D40E7411-9A7A-4494-8B3B-6A85016AABB6}" dt="2026-05-17T07:07:22.996" v="49" actId="20577"/>
          <ac:graphicFrameMkLst>
            <pc:docMk/>
            <pc:sldMk cId="1409947831" sldId="298"/>
            <ac:graphicFrameMk id="2" creationId="{C328E088-62AC-5935-2DE5-9BC02A7C3E7B}"/>
          </ac:graphicFrameMkLst>
        </pc:graphicFrameChg>
        <pc:graphicFrameChg chg="mod modGraphic">
          <ac:chgData name="Aman Jain P" userId="48247718dbe13526" providerId="LiveId" clId="{D40E7411-9A7A-4494-8B3B-6A85016AABB6}" dt="2026-05-17T07:10:02.618" v="53" actId="20577"/>
          <ac:graphicFrameMkLst>
            <pc:docMk/>
            <pc:sldMk cId="1409947831" sldId="298"/>
            <ac:graphicFrameMk id="197" creationId="{9C75E89F-5E76-8C6D-522D-D3D0370C8E8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0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698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39542-0B0D-79A5-C024-1EF5E1B11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6BCF4-B180-4E0D-8042-0C3A4C9A7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12A26-00B2-8CF2-4614-DD7EAED89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B69F0-7EF1-0AD1-103B-1BAFC90DC9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10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FF75C-077F-1611-B163-83F630AD9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11721-49F7-2F3F-4213-C090D0105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0C195-B7D6-C824-0D22-4D8B27692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5836A-D2A0-44F9-1651-1818AB3284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35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87B20-8E7D-2130-46BB-1720FE6C1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C1AA1-EF8B-368E-2671-C85DB8987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C9550-C79C-2964-EDAD-4AD69D9CB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B6FDD-1EBF-A936-CAA0-68DC749D1F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67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C8E26-9FA9-8404-85EB-0C0773A57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A0FFB-05D0-F3A7-A5EB-E32484700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6D3AA-BD15-12B7-1CC4-801B68C36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3CD40-CE2C-0C70-9CA2-4EB38A3FC8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22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70DCB-4924-9BB1-AFDE-9BD3303DC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50BE9-A47A-E954-748D-7A8C35512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6E0DD-FDAA-5DD0-1361-AA9333F88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60B96-E2D3-8A0A-4366-BD53263B12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6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791E5-9E04-D7A7-4548-9A7EE9E60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87146-4EA3-8CB2-7FE7-8E50EFC50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2B011-ED65-58AA-18C7-704CF5425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AFCA1-5F04-3DCB-F9B3-6CBDDDEBA6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77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D5CA5-51C2-CC02-D2E1-A8B41D890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2FDBB-1A0C-105A-4CC3-327BA765A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256494-1BB5-778C-3E30-3E94AF517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28D85-F39B-A32A-3BE0-2BA1656961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15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5B0F3-3846-FFB1-44B3-B12C02EB9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58A11-819F-FEE9-5B6D-ABD0D7343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9526B-D897-4F6B-FCFA-8452A0A45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941FF-F21D-0C02-E14C-4387F80BD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70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70D35-1659-C79A-C286-F17927471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70630-E1D9-0FFE-075D-0285FE5BA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1FDB2-8EE8-30DD-E65B-6B1284B1E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D6E17-B109-E010-23D9-EAFF0C5916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08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7827E-7345-5E8D-ACAB-2D62EA572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1B999-996D-8109-E453-42AE1F29C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780A2-8DFF-0654-09C3-8C1B101F4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C16AB-025C-BF66-F240-1A20A50E3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81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65C18-A595-68EE-E909-02F962BB8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6BB21-2D3C-A99F-0AE2-5421D9F67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38669-5EF7-744E-0D04-049280ACB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4E6A4-AA75-8992-802B-1A01533C1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57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40681-D558-D310-18BA-2DD41D39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070FF-DAA7-DF93-8E30-C65F86BD1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9A038-E29B-63E5-B158-B245B49FB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17CC1-6E22-3E3B-67CE-A06BAD3CC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45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23D5-9AE9-4D3E-AB4D-82A95E2564CD}" type="datetimeFigureOut">
              <a:rPr lang="en-IN" smtClean="0"/>
              <a:pPr/>
              <a:t>17-05-2026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9584D-E97D-47EB-8490-6F36AE3654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6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6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23D5-9AE9-4D3E-AB4D-82A95E2564CD}" type="datetimeFigureOut">
              <a:rPr lang="en-IN" smtClean="0"/>
              <a:pPr/>
              <a:t>17-05-2026</a:t>
            </a:fld>
            <a:endParaRPr lang="en-IN"/>
          </a:p>
        </p:txBody>
      </p:sp>
      <p:sp>
        <p:nvSpPr>
          <p:cNvPr id="104866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9584D-E97D-47EB-8490-6F36AE3654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77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23D5-9AE9-4D3E-AB4D-82A95E2564CD}" type="datetimeFigureOut">
              <a:rPr lang="en-IN" smtClean="0"/>
              <a:pPr/>
              <a:t>17-05-2026</a:t>
            </a:fld>
            <a:endParaRPr lang="en-IN"/>
          </a:p>
        </p:txBody>
      </p:sp>
      <p:sp>
        <p:nvSpPr>
          <p:cNvPr id="104867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9584D-E97D-47EB-8490-6F36AE3654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82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83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8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23D5-9AE9-4D3E-AB4D-82A95E2564CD}" type="datetimeFigureOut">
              <a:rPr lang="en-IN" smtClean="0"/>
              <a:pPr/>
              <a:t>17-05-2026</a:t>
            </a:fld>
            <a:endParaRPr lang="en-IN"/>
          </a:p>
        </p:txBody>
      </p:sp>
      <p:sp>
        <p:nvSpPr>
          <p:cNvPr id="104868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8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9584D-E97D-47EB-8490-6F36AE3654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88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9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1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9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23D5-9AE9-4D3E-AB4D-82A95E2564CD}" type="datetimeFigureOut">
              <a:rPr lang="en-IN" smtClean="0"/>
              <a:pPr/>
              <a:t>17-05-2026</a:t>
            </a:fld>
            <a:endParaRPr lang="en-IN"/>
          </a:p>
        </p:txBody>
      </p:sp>
      <p:sp>
        <p:nvSpPr>
          <p:cNvPr id="104869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9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9584D-E97D-47EB-8490-6F36AE3654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5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23D5-9AE9-4D3E-AB4D-82A95E2564CD}" type="datetimeFigureOut">
              <a:rPr lang="en-IN" smtClean="0"/>
              <a:pPr/>
              <a:t>17-05-2026</a:t>
            </a:fld>
            <a:endParaRPr lang="en-IN"/>
          </a:p>
        </p:txBody>
      </p:sp>
      <p:sp>
        <p:nvSpPr>
          <p:cNvPr id="104865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9584D-E97D-47EB-8490-6F36AE3654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23D5-9AE9-4D3E-AB4D-82A95E2564CD}" type="datetimeFigureOut">
              <a:rPr lang="en-IN" smtClean="0"/>
              <a:pPr/>
              <a:t>17-05-2026</a:t>
            </a:fld>
            <a:endParaRPr lang="en-IN"/>
          </a:p>
        </p:txBody>
      </p:sp>
      <p:sp>
        <p:nvSpPr>
          <p:cNvPr id="104869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9584D-E97D-47EB-8490-6F36AE3654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99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0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23D5-9AE9-4D3E-AB4D-82A95E2564CD}" type="datetimeFigureOut">
              <a:rPr lang="en-IN" smtClean="0"/>
              <a:pPr/>
              <a:t>17-05-2026</a:t>
            </a:fld>
            <a:endParaRPr lang="en-IN"/>
          </a:p>
        </p:txBody>
      </p:sp>
      <p:sp>
        <p:nvSpPr>
          <p:cNvPr id="104870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0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9584D-E97D-47EB-8490-6F36AE3654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66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67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23D5-9AE9-4D3E-AB4D-82A95E2564CD}" type="datetimeFigureOut">
              <a:rPr lang="en-IN" smtClean="0"/>
              <a:pPr/>
              <a:t>17-05-2026</a:t>
            </a:fld>
            <a:endParaRPr lang="en-IN"/>
          </a:p>
        </p:txBody>
      </p:sp>
      <p:sp>
        <p:nvSpPr>
          <p:cNvPr id="104866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7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9584D-E97D-47EB-8490-6F36AE3654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7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23D5-9AE9-4D3E-AB4D-82A95E2564CD}" type="datetimeFigureOut">
              <a:rPr lang="en-IN" smtClean="0"/>
              <a:pPr/>
              <a:t>17-05-2026</a:t>
            </a:fld>
            <a:endParaRPr lang="en-IN"/>
          </a:p>
        </p:txBody>
      </p:sp>
      <p:sp>
        <p:nvSpPr>
          <p:cNvPr id="10486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9584D-E97D-47EB-8490-6F36AE3654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5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23D5-9AE9-4D3E-AB4D-82A95E2564CD}" type="datetimeFigureOut">
              <a:rPr lang="en-IN" smtClean="0"/>
              <a:pPr/>
              <a:t>17-05-2026</a:t>
            </a:fld>
            <a:endParaRPr lang="en-IN"/>
          </a:p>
        </p:txBody>
      </p:sp>
      <p:sp>
        <p:nvSpPr>
          <p:cNvPr id="10486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9584D-E97D-47EB-8490-6F36AE3654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123D5-9AE9-4D3E-AB4D-82A95E2564CD}" type="datetimeFigureOut">
              <a:rPr lang="en-IN" smtClean="0"/>
              <a:pPr/>
              <a:t>17-05-2026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9584D-E97D-47EB-8490-6F36AE365490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/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/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/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/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&amp;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/>
          <p:cNvSpPr>
            <a:spLocks noChangeArrowheads="1"/>
          </p:cNvSpPr>
          <p:nvPr/>
        </p:nvSpPr>
        <p:spPr bwMode="auto">
          <a:xfrm>
            <a:off x="771794" y="1669589"/>
            <a:ext cx="10865785" cy="9848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endParaRPr lang="en-US" sz="24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4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BASED ONLINE BLOOD DONATION SYSTEM 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1" name="Rectangle 150"/>
          <p:cNvSpPr>
            <a:spLocks noGrp="1" noChangeArrowheads="1"/>
          </p:cNvSpPr>
          <p:nvPr>
            <p:ph type="ctrTitle"/>
          </p:nvPr>
        </p:nvSpPr>
        <p:spPr>
          <a:xfrm>
            <a:off x="2570923" y="2852795"/>
            <a:ext cx="6792854" cy="1723717"/>
          </a:xfrm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s-ES" altLang="en-US" sz="2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IN" altLang="en-US" sz="2000" b="1" dirty="0">
                <a:latin typeface="Times New Roman" pitchFamily="18" charset="0"/>
                <a:cs typeface="Times New Roman" pitchFamily="18" charset="0"/>
              </a:rPr>
              <a:t>PRESENTED BY</a:t>
            </a:r>
            <a:br>
              <a:rPr lang="es-ES" alt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s-ES" altLang="en-US" sz="2000" b="1" dirty="0">
                <a:latin typeface="Times New Roman" pitchFamily="18" charset="0"/>
                <a:cs typeface="Times New Roman" pitchFamily="18" charset="0"/>
              </a:rPr>
              <a:t>  AMAN JAIN P                     4VM23CS002 </a:t>
            </a:r>
            <a:br>
              <a:rPr lang="es-ES" alt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s-ES" altLang="en-US" sz="2000" b="1" dirty="0">
                <a:latin typeface="Times New Roman" pitchFamily="18" charset="0"/>
                <a:cs typeface="Times New Roman" pitchFamily="18" charset="0"/>
              </a:rPr>
              <a:t>  PRIYANKA R                      4VM23CS038</a:t>
            </a:r>
            <a:br>
              <a:rPr lang="es-ES" altLang="en-US" sz="2000" b="1" dirty="0">
                <a:latin typeface="Times New Roman" pitchFamily="18" charset="0"/>
                <a:cs typeface="Times New Roman" pitchFamily="18" charset="0"/>
              </a:rPr>
            </a:br>
            <a:endParaRPr lang="zh-CN" altLang="en-US" sz="2000" dirty="0"/>
          </a:p>
        </p:txBody>
      </p:sp>
      <p:sp>
        <p:nvSpPr>
          <p:cNvPr id="1048593" name="TextBox 2"/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68431" y="4446551"/>
            <a:ext cx="38476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 of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IN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MEGHASHREE M B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Dept. Of CSE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VVIET</a:t>
            </a:r>
            <a:endParaRPr lang="en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D3A1C-7E2F-00BA-2D49-12C8EEC731C3}"/>
              </a:ext>
            </a:extLst>
          </p:cNvPr>
          <p:cNvSpPr txBox="1"/>
          <p:nvPr/>
        </p:nvSpPr>
        <p:spPr>
          <a:xfrm>
            <a:off x="5116626" y="1255473"/>
            <a:ext cx="1971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839C2DB9-1B4B-9710-6F01-F45B07F08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/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/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/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/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/>
          <p:cNvSpPr>
            <a:spLocks noChangeArrowheads="1"/>
          </p:cNvSpPr>
          <p:nvPr/>
        </p:nvSpPr>
        <p:spPr bwMode="auto">
          <a:xfrm>
            <a:off x="2128003" y="1223158"/>
            <a:ext cx="777351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400" b="1" dirty="0"/>
          </a:p>
        </p:txBody>
      </p:sp>
      <p:sp>
        <p:nvSpPr>
          <p:cNvPr id="1048593" name="TextBox 2"/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839C2DB9-1B4B-9710-6F01-F45B07F08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997527" y="1543792"/>
            <a:ext cx="4724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Introduction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 of Literature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Methodology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and Hardware Requirements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Expected Outcome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C46BA-1F22-3F0A-E1BC-B41C8134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>
            <a:extLst>
              <a:ext uri="{FF2B5EF4-FFF2-40B4-BE49-F238E27FC236}">
                <a16:creationId xmlns:a16="http://schemas.microsoft.com/office/drawing/2014/main" id="{71C09D63-1C1A-8B99-B630-AFAF0279D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>
            <a:extLst>
              <a:ext uri="{FF2B5EF4-FFF2-40B4-BE49-F238E27FC236}">
                <a16:creationId xmlns:a16="http://schemas.microsoft.com/office/drawing/2014/main" id="{B200E2D8-37EC-1DD2-B69E-3DA4653C3CC3}"/>
              </a:ext>
            </a:extLst>
          </p:cNvPr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>
            <a:extLst>
              <a:ext uri="{FF2B5EF4-FFF2-40B4-BE49-F238E27FC236}">
                <a16:creationId xmlns:a16="http://schemas.microsoft.com/office/drawing/2014/main" id="{63A200FB-C87A-D7CD-B041-89D35879619E}"/>
              </a:ext>
            </a:extLst>
          </p:cNvPr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>
            <a:extLst>
              <a:ext uri="{FF2B5EF4-FFF2-40B4-BE49-F238E27FC236}">
                <a16:creationId xmlns:a16="http://schemas.microsoft.com/office/drawing/2014/main" id="{8555D888-6AAF-D38D-C2C3-5F3CB4C36DE8}"/>
              </a:ext>
            </a:extLst>
          </p:cNvPr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>
            <a:extLst>
              <a:ext uri="{FF2B5EF4-FFF2-40B4-BE49-F238E27FC236}">
                <a16:creationId xmlns:a16="http://schemas.microsoft.com/office/drawing/2014/main" id="{ED86D762-8C3C-AA47-D59A-302D397EC70F}"/>
              </a:ext>
            </a:extLst>
          </p:cNvPr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>
            <a:extLst>
              <a:ext uri="{FF2B5EF4-FFF2-40B4-BE49-F238E27FC236}">
                <a16:creationId xmlns:a16="http://schemas.microsoft.com/office/drawing/2014/main" id="{D8166F72-0A18-E715-BA08-36BE3AC0E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891" y="1223158"/>
            <a:ext cx="11411654" cy="477053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lvl="0" indent="-317500">
              <a:lnSpc>
                <a:spcPct val="200000"/>
              </a:lnSpc>
              <a:spcBef>
                <a:spcPts val="1200"/>
              </a:spcBef>
              <a:buClr>
                <a:schemeClr val="dk1"/>
              </a:buClr>
              <a:buSzPts val="1400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 is a critical resource required for surgeries, accidents, and medical treatments.</a:t>
            </a:r>
          </a:p>
          <a:p>
            <a:pPr marL="457200" lvl="0" indent="-317500">
              <a:lnSpc>
                <a:spcPct val="200000"/>
              </a:lnSpc>
              <a:buClr>
                <a:schemeClr val="dk1"/>
              </a:buClr>
              <a:buSzPts val="1400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Timely availability of the right blood group can save lives.</a:t>
            </a:r>
          </a:p>
          <a:p>
            <a:pPr marL="457200" lvl="0" indent="-317500">
              <a:lnSpc>
                <a:spcPct val="200000"/>
              </a:lnSpc>
              <a:buClr>
                <a:schemeClr val="dk1"/>
              </a:buClr>
              <a:buSzPts val="1400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are mostly manual, fragmented, and inefficient.</a:t>
            </a:r>
          </a:p>
          <a:p>
            <a:pPr marL="457200" lvl="0" indent="-317500">
              <a:lnSpc>
                <a:spcPct val="200000"/>
              </a:lnSpc>
              <a:buClr>
                <a:schemeClr val="dk1"/>
              </a:buClr>
              <a:buSzPts val="1400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digital transformation, there is a need for a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centralized, real-time blood donation platform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17500">
              <a:lnSpc>
                <a:spcPct val="200000"/>
              </a:lnSpc>
              <a:buClr>
                <a:schemeClr val="dk1"/>
              </a:buClr>
              <a:buSzPts val="1400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web-based system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connects donors, hospitals, and blood banks seamlessly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200000"/>
              </a:lnSpc>
            </a:pP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3" name="TextBox 2">
            <a:extLst>
              <a:ext uri="{FF2B5EF4-FFF2-40B4-BE49-F238E27FC236}">
                <a16:creationId xmlns:a16="http://schemas.microsoft.com/office/drawing/2014/main" id="{C50F1CC9-9458-02B6-1E41-C589119B1A5F}"/>
              </a:ext>
            </a:extLst>
          </p:cNvPr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82D6AC24-7C91-BCD5-ADDE-5E25F528C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5088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/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/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/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/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/>
          <p:cNvSpPr>
            <a:spLocks noChangeArrowheads="1"/>
          </p:cNvSpPr>
          <p:nvPr/>
        </p:nvSpPr>
        <p:spPr bwMode="auto">
          <a:xfrm>
            <a:off x="2128003" y="1223158"/>
            <a:ext cx="777351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</p:txBody>
      </p:sp>
      <p:sp>
        <p:nvSpPr>
          <p:cNvPr id="1048593" name="TextBox 2"/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839C2DB9-1B4B-9710-6F01-F45B07F08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7" name="Google Shape;197;p21"/>
          <p:cNvGraphicFramePr/>
          <p:nvPr>
            <p:extLst>
              <p:ext uri="{D42A27DB-BD31-4B8C-83A1-F6EECF244321}">
                <p14:modId xmlns:p14="http://schemas.microsoft.com/office/powerpoint/2010/main" val="2984907463"/>
              </p:ext>
            </p:extLst>
          </p:nvPr>
        </p:nvGraphicFramePr>
        <p:xfrm>
          <a:off x="518160" y="2091807"/>
          <a:ext cx="11262162" cy="343949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6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5441">
                  <a:extLst>
                    <a:ext uri="{9D8B030D-6E8A-4147-A177-3AD203B41FA5}">
                      <a16:colId xmlns:a16="http://schemas.microsoft.com/office/drawing/2014/main" val="2646259758"/>
                    </a:ext>
                  </a:extLst>
                </a:gridCol>
                <a:gridCol w="1563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2651">
                  <a:extLst>
                    <a:ext uri="{9D8B030D-6E8A-4147-A177-3AD203B41FA5}">
                      <a16:colId xmlns:a16="http://schemas.microsoft.com/office/drawing/2014/main" val="2099958923"/>
                    </a:ext>
                  </a:extLst>
                </a:gridCol>
                <a:gridCol w="2644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3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 err="1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Author Name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Title of the Paper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Work Done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4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Chirag Sharma, Vidhi Shah, Vedantika Singh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 err="1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BloodBond</a:t>
                      </a: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: Optimising Blood Bank System through a Comprehensive Smart Management System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Smart blood bank system with donor registration, donation management, locality search, emergency donor notifications, and hospital/blood-bank dashboards 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Can be expanded with AI matching, predictive inventory, mobile app integration, and broader hospital-network connectivity 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5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Prof. Pritesh Patil, Tanisha Londhe, Arya </a:t>
                      </a:r>
                      <a:r>
                        <a:rPr lang="en-IN" sz="14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Shekatkar</a:t>
                      </a: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Ayush Thorat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Online Blood Bank Management System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Created a web-based blood bank management solution with donor </a:t>
                      </a:r>
                      <a:r>
                        <a:rPr lang="en-IN" sz="1400" kern="100" dirty="0" err="1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enrollment</a:t>
                      </a: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, blood search, blood request, and admin login features.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F0502020204030204" pitchFamily="34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Created a web-based blood bank management solution with donor </a:t>
                      </a:r>
                      <a:r>
                        <a:rPr lang="en-IN" sz="1400" kern="100" dirty="0" err="1">
                          <a:effectLst/>
                          <a:latin typeface="Aptos" panose="020F0502020204030204" pitchFamily="34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enrollment</a:t>
                      </a:r>
                      <a:r>
                        <a:rPr lang="en-IN" sz="1400" kern="100" dirty="0">
                          <a:effectLst/>
                          <a:latin typeface="Aptos" panose="020F0502020204030204" pitchFamily="34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, blood search, blood request, and admin login features.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CD749F-2B73-5DAE-57BB-05C32D7A1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54934"/>
              </p:ext>
            </p:extLst>
          </p:nvPr>
        </p:nvGraphicFramePr>
        <p:xfrm>
          <a:off x="518159" y="5283592"/>
          <a:ext cx="11262162" cy="122624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6072">
                  <a:extLst>
                    <a:ext uri="{9D8B030D-6E8A-4147-A177-3AD203B41FA5}">
                      <a16:colId xmlns:a16="http://schemas.microsoft.com/office/drawing/2014/main" val="780916238"/>
                    </a:ext>
                  </a:extLst>
                </a:gridCol>
                <a:gridCol w="1665441">
                  <a:extLst>
                    <a:ext uri="{9D8B030D-6E8A-4147-A177-3AD203B41FA5}">
                      <a16:colId xmlns:a16="http://schemas.microsoft.com/office/drawing/2014/main" val="4273864193"/>
                    </a:ext>
                  </a:extLst>
                </a:gridCol>
                <a:gridCol w="1563282">
                  <a:extLst>
                    <a:ext uri="{9D8B030D-6E8A-4147-A177-3AD203B41FA5}">
                      <a16:colId xmlns:a16="http://schemas.microsoft.com/office/drawing/2014/main" val="1246815592"/>
                    </a:ext>
                  </a:extLst>
                </a:gridCol>
                <a:gridCol w="2142651">
                  <a:extLst>
                    <a:ext uri="{9D8B030D-6E8A-4147-A177-3AD203B41FA5}">
                      <a16:colId xmlns:a16="http://schemas.microsoft.com/office/drawing/2014/main" val="1598585330"/>
                    </a:ext>
                  </a:extLst>
                </a:gridCol>
                <a:gridCol w="2644357">
                  <a:extLst>
                    <a:ext uri="{9D8B030D-6E8A-4147-A177-3AD203B41FA5}">
                      <a16:colId xmlns:a16="http://schemas.microsoft.com/office/drawing/2014/main" val="3258670811"/>
                    </a:ext>
                  </a:extLst>
                </a:gridCol>
                <a:gridCol w="2160359">
                  <a:extLst>
                    <a:ext uri="{9D8B030D-6E8A-4147-A177-3AD203B41FA5}">
                      <a16:colId xmlns:a16="http://schemas.microsoft.com/office/drawing/2014/main" val="153872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Sakshi Patil, Swaroop Taral, Vedant Satpute, Viresh Kadam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i="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Blood Bank Management System</a:t>
                      </a:r>
                      <a:endParaRPr lang="en-IN" sz="1400" i="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Designed a blood bank database management system for maintaining donor records, blood stock inventory, and hospital blood requests using DBMS technologies.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Cloud storage integration, blockchain-based secure records, and automated blood stock prediction.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7524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982B1-ED7B-2A2A-7AC2-59AEFC73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>
            <a:extLst>
              <a:ext uri="{FF2B5EF4-FFF2-40B4-BE49-F238E27FC236}">
                <a16:creationId xmlns:a16="http://schemas.microsoft.com/office/drawing/2014/main" id="{1EE60D23-E820-EE3C-EE2B-B4AB62B76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>
            <a:extLst>
              <a:ext uri="{FF2B5EF4-FFF2-40B4-BE49-F238E27FC236}">
                <a16:creationId xmlns:a16="http://schemas.microsoft.com/office/drawing/2014/main" id="{BB98E7CD-0968-824E-415E-051A8A85B553}"/>
              </a:ext>
            </a:extLst>
          </p:cNvPr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>
            <a:extLst>
              <a:ext uri="{FF2B5EF4-FFF2-40B4-BE49-F238E27FC236}">
                <a16:creationId xmlns:a16="http://schemas.microsoft.com/office/drawing/2014/main" id="{E28824F9-60AC-DC07-2539-8B0ADAB9A135}"/>
              </a:ext>
            </a:extLst>
          </p:cNvPr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>
            <a:extLst>
              <a:ext uri="{FF2B5EF4-FFF2-40B4-BE49-F238E27FC236}">
                <a16:creationId xmlns:a16="http://schemas.microsoft.com/office/drawing/2014/main" id="{DDE6115F-6157-2824-47E2-EB236A267B39}"/>
              </a:ext>
            </a:extLst>
          </p:cNvPr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>
            <a:extLst>
              <a:ext uri="{FF2B5EF4-FFF2-40B4-BE49-F238E27FC236}">
                <a16:creationId xmlns:a16="http://schemas.microsoft.com/office/drawing/2014/main" id="{584DADAF-C749-6EAD-E529-60EA37B17B93}"/>
              </a:ext>
            </a:extLst>
          </p:cNvPr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>
            <a:extLst>
              <a:ext uri="{FF2B5EF4-FFF2-40B4-BE49-F238E27FC236}">
                <a16:creationId xmlns:a16="http://schemas.microsoft.com/office/drawing/2014/main" id="{5D6788FE-57DD-6FDE-124C-D3D8D2C1E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003" y="1223158"/>
            <a:ext cx="777351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</p:txBody>
      </p:sp>
      <p:sp>
        <p:nvSpPr>
          <p:cNvPr id="1048593" name="TextBox 2">
            <a:extLst>
              <a:ext uri="{FF2B5EF4-FFF2-40B4-BE49-F238E27FC236}">
                <a16:creationId xmlns:a16="http://schemas.microsoft.com/office/drawing/2014/main" id="{E5CB635B-8382-1462-8F31-E22FD7BEF460}"/>
              </a:ext>
            </a:extLst>
          </p:cNvPr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421CB936-CE16-56E0-D9CF-0F923493B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7" name="Google Shape;197;p21">
            <a:extLst>
              <a:ext uri="{FF2B5EF4-FFF2-40B4-BE49-F238E27FC236}">
                <a16:creationId xmlns:a16="http://schemas.microsoft.com/office/drawing/2014/main" id="{B5DCC88F-D2EF-BA2C-0B3F-4A362A3955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8755924"/>
              </p:ext>
            </p:extLst>
          </p:nvPr>
        </p:nvGraphicFramePr>
        <p:xfrm>
          <a:off x="518160" y="2091807"/>
          <a:ext cx="11262162" cy="17235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6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5441">
                  <a:extLst>
                    <a:ext uri="{9D8B030D-6E8A-4147-A177-3AD203B41FA5}">
                      <a16:colId xmlns:a16="http://schemas.microsoft.com/office/drawing/2014/main" val="2646259758"/>
                    </a:ext>
                  </a:extLst>
                </a:gridCol>
                <a:gridCol w="1563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2651">
                  <a:extLst>
                    <a:ext uri="{9D8B030D-6E8A-4147-A177-3AD203B41FA5}">
                      <a16:colId xmlns:a16="http://schemas.microsoft.com/office/drawing/2014/main" val="2099958923"/>
                    </a:ext>
                  </a:extLst>
                </a:gridCol>
                <a:gridCol w="2644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8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 err="1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Author Name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Title of the Paper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Work Done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Manvir Kaur, Nahida Nazir, Navneet Kaur, 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Web Based Blood Bank Management System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paper focuses on reducing donor-finding difficulties during emergency situations and improving security for donor records 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Can be extended with real-time donor search, automated emergency alerts, mobile access, hospital integration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A1A311-872F-ADDC-9F20-41DE35AA5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451437"/>
              </p:ext>
            </p:extLst>
          </p:nvPr>
        </p:nvGraphicFramePr>
        <p:xfrm>
          <a:off x="518159" y="3815375"/>
          <a:ext cx="11262162" cy="12496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6072">
                  <a:extLst>
                    <a:ext uri="{9D8B030D-6E8A-4147-A177-3AD203B41FA5}">
                      <a16:colId xmlns:a16="http://schemas.microsoft.com/office/drawing/2014/main" val="3795189230"/>
                    </a:ext>
                  </a:extLst>
                </a:gridCol>
                <a:gridCol w="1665441">
                  <a:extLst>
                    <a:ext uri="{9D8B030D-6E8A-4147-A177-3AD203B41FA5}">
                      <a16:colId xmlns:a16="http://schemas.microsoft.com/office/drawing/2014/main" val="1630821440"/>
                    </a:ext>
                  </a:extLst>
                </a:gridCol>
                <a:gridCol w="1563282">
                  <a:extLst>
                    <a:ext uri="{9D8B030D-6E8A-4147-A177-3AD203B41FA5}">
                      <a16:colId xmlns:a16="http://schemas.microsoft.com/office/drawing/2014/main" val="3706811568"/>
                    </a:ext>
                  </a:extLst>
                </a:gridCol>
                <a:gridCol w="2142651">
                  <a:extLst>
                    <a:ext uri="{9D8B030D-6E8A-4147-A177-3AD203B41FA5}">
                      <a16:colId xmlns:a16="http://schemas.microsoft.com/office/drawing/2014/main" val="1358211055"/>
                    </a:ext>
                  </a:extLst>
                </a:gridCol>
                <a:gridCol w="2644357">
                  <a:extLst>
                    <a:ext uri="{9D8B030D-6E8A-4147-A177-3AD203B41FA5}">
                      <a16:colId xmlns:a16="http://schemas.microsoft.com/office/drawing/2014/main" val="2652690120"/>
                    </a:ext>
                  </a:extLst>
                </a:gridCol>
                <a:gridCol w="2160359">
                  <a:extLst>
                    <a:ext uri="{9D8B030D-6E8A-4147-A177-3AD203B41FA5}">
                      <a16:colId xmlns:a16="http://schemas.microsoft.com/office/drawing/2014/main" val="1596426057"/>
                    </a:ext>
                  </a:extLst>
                </a:gridCol>
              </a:tblGrid>
              <a:tr h="10959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Mr Pritam Ahire ,  Siddhi </a:t>
                      </a:r>
                      <a:r>
                        <a:rPr lang="en-IN" sz="1400" kern="100" dirty="0" err="1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Gawade</a:t>
                      </a: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 , Pranoti Kadam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Bridging The Gap Between Donors And Recipients: A Web-Based Blood Donation System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Designed a web-based portal to connect donors and recipients more efficiently, focusing on emergency communication and donor search.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Can be expanded with smart matching, hospital integration, multilingual support, and map-based donor discovery.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72288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49C8AD-1A1B-30FD-C4BC-774FB6623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83876"/>
              </p:ext>
            </p:extLst>
          </p:nvPr>
        </p:nvGraphicFramePr>
        <p:xfrm>
          <a:off x="518159" y="5065025"/>
          <a:ext cx="11262162" cy="122624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6072">
                  <a:extLst>
                    <a:ext uri="{9D8B030D-6E8A-4147-A177-3AD203B41FA5}">
                      <a16:colId xmlns:a16="http://schemas.microsoft.com/office/drawing/2014/main" val="2194169602"/>
                    </a:ext>
                  </a:extLst>
                </a:gridCol>
                <a:gridCol w="1665441">
                  <a:extLst>
                    <a:ext uri="{9D8B030D-6E8A-4147-A177-3AD203B41FA5}">
                      <a16:colId xmlns:a16="http://schemas.microsoft.com/office/drawing/2014/main" val="1584560920"/>
                    </a:ext>
                  </a:extLst>
                </a:gridCol>
                <a:gridCol w="1563282">
                  <a:extLst>
                    <a:ext uri="{9D8B030D-6E8A-4147-A177-3AD203B41FA5}">
                      <a16:colId xmlns:a16="http://schemas.microsoft.com/office/drawing/2014/main" val="3994402811"/>
                    </a:ext>
                  </a:extLst>
                </a:gridCol>
                <a:gridCol w="2142651">
                  <a:extLst>
                    <a:ext uri="{9D8B030D-6E8A-4147-A177-3AD203B41FA5}">
                      <a16:colId xmlns:a16="http://schemas.microsoft.com/office/drawing/2014/main" val="1035678229"/>
                    </a:ext>
                  </a:extLst>
                </a:gridCol>
                <a:gridCol w="2644357">
                  <a:extLst>
                    <a:ext uri="{9D8B030D-6E8A-4147-A177-3AD203B41FA5}">
                      <a16:colId xmlns:a16="http://schemas.microsoft.com/office/drawing/2014/main" val="1114671673"/>
                    </a:ext>
                  </a:extLst>
                </a:gridCol>
                <a:gridCol w="2160359">
                  <a:extLst>
                    <a:ext uri="{9D8B030D-6E8A-4147-A177-3AD203B41FA5}">
                      <a16:colId xmlns:a16="http://schemas.microsoft.com/office/drawing/2014/main" val="392074088"/>
                    </a:ext>
                  </a:extLst>
                </a:gridCol>
              </a:tblGrid>
              <a:tr h="9975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Nwankwo Chinedu and Team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i="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Design and Implementation of an Online Blood Donation System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Implemented a secure online blood donation platform using PHP and MySQL with donor-recipient interaction and appointment scheduling.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Biometric authentication, AI chatbot assistance, and predictive emergency blood demand analysis.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448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456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D7958-AFE4-CD4F-B190-1406E4604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>
            <a:extLst>
              <a:ext uri="{FF2B5EF4-FFF2-40B4-BE49-F238E27FC236}">
                <a16:creationId xmlns:a16="http://schemas.microsoft.com/office/drawing/2014/main" id="{92FD2A2A-5933-B613-0733-DB23E1708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>
            <a:extLst>
              <a:ext uri="{FF2B5EF4-FFF2-40B4-BE49-F238E27FC236}">
                <a16:creationId xmlns:a16="http://schemas.microsoft.com/office/drawing/2014/main" id="{25A56AC7-4AE5-DDE3-9D05-AE8266A27B9F}"/>
              </a:ext>
            </a:extLst>
          </p:cNvPr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>
            <a:extLst>
              <a:ext uri="{FF2B5EF4-FFF2-40B4-BE49-F238E27FC236}">
                <a16:creationId xmlns:a16="http://schemas.microsoft.com/office/drawing/2014/main" id="{14E930CC-F7F9-B197-B47A-FA40E5F3A9F7}"/>
              </a:ext>
            </a:extLst>
          </p:cNvPr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>
            <a:extLst>
              <a:ext uri="{FF2B5EF4-FFF2-40B4-BE49-F238E27FC236}">
                <a16:creationId xmlns:a16="http://schemas.microsoft.com/office/drawing/2014/main" id="{EB20994B-268D-D04B-A6C5-F52AEA862D0F}"/>
              </a:ext>
            </a:extLst>
          </p:cNvPr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>
            <a:extLst>
              <a:ext uri="{FF2B5EF4-FFF2-40B4-BE49-F238E27FC236}">
                <a16:creationId xmlns:a16="http://schemas.microsoft.com/office/drawing/2014/main" id="{534832F2-1F75-4673-D687-E374E46006DB}"/>
              </a:ext>
            </a:extLst>
          </p:cNvPr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>
            <a:extLst>
              <a:ext uri="{FF2B5EF4-FFF2-40B4-BE49-F238E27FC236}">
                <a16:creationId xmlns:a16="http://schemas.microsoft.com/office/drawing/2014/main" id="{D952A5E8-130E-4B0A-8834-9C3A75B50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003" y="1223158"/>
            <a:ext cx="777351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</p:txBody>
      </p:sp>
      <p:sp>
        <p:nvSpPr>
          <p:cNvPr id="1048593" name="TextBox 2">
            <a:extLst>
              <a:ext uri="{FF2B5EF4-FFF2-40B4-BE49-F238E27FC236}">
                <a16:creationId xmlns:a16="http://schemas.microsoft.com/office/drawing/2014/main" id="{FAAD1487-157F-1515-0940-6A851B28D276}"/>
              </a:ext>
            </a:extLst>
          </p:cNvPr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C11755A9-460D-75BE-6225-29C2E4ACC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7" name="Google Shape;197;p21">
            <a:extLst>
              <a:ext uri="{FF2B5EF4-FFF2-40B4-BE49-F238E27FC236}">
                <a16:creationId xmlns:a16="http://schemas.microsoft.com/office/drawing/2014/main" id="{3AA67E57-C469-8EE7-F97E-9F05FF1B7B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1573642"/>
              </p:ext>
            </p:extLst>
          </p:nvPr>
        </p:nvGraphicFramePr>
        <p:xfrm>
          <a:off x="518160" y="2091807"/>
          <a:ext cx="11262162" cy="32649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6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5441">
                  <a:extLst>
                    <a:ext uri="{9D8B030D-6E8A-4147-A177-3AD203B41FA5}">
                      <a16:colId xmlns:a16="http://schemas.microsoft.com/office/drawing/2014/main" val="2646259758"/>
                    </a:ext>
                  </a:extLst>
                </a:gridCol>
                <a:gridCol w="1563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2651">
                  <a:extLst>
                    <a:ext uri="{9D8B030D-6E8A-4147-A177-3AD203B41FA5}">
                      <a16:colId xmlns:a16="http://schemas.microsoft.com/office/drawing/2014/main" val="2099958923"/>
                    </a:ext>
                  </a:extLst>
                </a:gridCol>
                <a:gridCol w="2644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3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 err="1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Author Name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Title of the Paper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Work Done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4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Fatima Zulfiqar Ali, </a:t>
                      </a:r>
                      <a:r>
                        <a:rPr lang="en-IN" sz="1400" kern="100" dirty="0" err="1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Atrooba</a:t>
                      </a: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 Ilyas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Design and Development of a Web Platform for Blood Donation Management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Developed a centralized platform where donors register, patients search by blood group and location, and admins manage data using PHP Laravel, HTML, CSS, Bootstrap, and MySQL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Can be extended with map-based nearby donor search, instant messaging, blood camp scheduling, and intelligent allocation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5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Shashikala B M, M P Pushpalatha, B Vijaya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Web Based Blood Donation Management System (BDMS) and Notifications</a:t>
                      </a:r>
                      <a:endParaRPr sz="1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Developed a web-based blood donation system with donor registration, blood request management, centralized database emergency communication.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Integration with mobile applications, GPS-based donor tracking, AI-based donor recommendation, and real-time analytics.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7D0C59-39CE-DFB7-463D-483CFF2B7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057975"/>
              </p:ext>
            </p:extLst>
          </p:nvPr>
        </p:nvGraphicFramePr>
        <p:xfrm>
          <a:off x="518159" y="5356711"/>
          <a:ext cx="11262162" cy="99752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6072">
                  <a:extLst>
                    <a:ext uri="{9D8B030D-6E8A-4147-A177-3AD203B41FA5}">
                      <a16:colId xmlns:a16="http://schemas.microsoft.com/office/drawing/2014/main" val="1051761369"/>
                    </a:ext>
                  </a:extLst>
                </a:gridCol>
                <a:gridCol w="1665441">
                  <a:extLst>
                    <a:ext uri="{9D8B030D-6E8A-4147-A177-3AD203B41FA5}">
                      <a16:colId xmlns:a16="http://schemas.microsoft.com/office/drawing/2014/main" val="913725350"/>
                    </a:ext>
                  </a:extLst>
                </a:gridCol>
                <a:gridCol w="1563282">
                  <a:extLst>
                    <a:ext uri="{9D8B030D-6E8A-4147-A177-3AD203B41FA5}">
                      <a16:colId xmlns:a16="http://schemas.microsoft.com/office/drawing/2014/main" val="4087448715"/>
                    </a:ext>
                  </a:extLst>
                </a:gridCol>
                <a:gridCol w="2142651">
                  <a:extLst>
                    <a:ext uri="{9D8B030D-6E8A-4147-A177-3AD203B41FA5}">
                      <a16:colId xmlns:a16="http://schemas.microsoft.com/office/drawing/2014/main" val="260491737"/>
                    </a:ext>
                  </a:extLst>
                </a:gridCol>
                <a:gridCol w="2644357">
                  <a:extLst>
                    <a:ext uri="{9D8B030D-6E8A-4147-A177-3AD203B41FA5}">
                      <a16:colId xmlns:a16="http://schemas.microsoft.com/office/drawing/2014/main" val="3127877996"/>
                    </a:ext>
                  </a:extLst>
                </a:gridCol>
                <a:gridCol w="2160359">
                  <a:extLst>
                    <a:ext uri="{9D8B030D-6E8A-4147-A177-3AD203B41FA5}">
                      <a16:colId xmlns:a16="http://schemas.microsoft.com/office/drawing/2014/main" val="1583721117"/>
                    </a:ext>
                  </a:extLst>
                </a:gridCol>
              </a:tblGrid>
              <a:tr h="9975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O. M. Oladimeji and Team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i="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Development of an Emergency Web-Based Blood Bank Donor System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Developed an emergency blood donor system focused on rapid donor communication and urgent blood request processing.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GPS-based nearby donor identification, SMS gateway enhancement, and integration with ambulance services.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11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498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8891-6784-0A76-0E02-710DA12C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>
            <a:extLst>
              <a:ext uri="{FF2B5EF4-FFF2-40B4-BE49-F238E27FC236}">
                <a16:creationId xmlns:a16="http://schemas.microsoft.com/office/drawing/2014/main" id="{CC6F4C58-5C47-EE6E-1948-7340FE015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>
            <a:extLst>
              <a:ext uri="{FF2B5EF4-FFF2-40B4-BE49-F238E27FC236}">
                <a16:creationId xmlns:a16="http://schemas.microsoft.com/office/drawing/2014/main" id="{5331CDD1-BD23-5D13-94FF-FB6EE490527E}"/>
              </a:ext>
            </a:extLst>
          </p:cNvPr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>
            <a:extLst>
              <a:ext uri="{FF2B5EF4-FFF2-40B4-BE49-F238E27FC236}">
                <a16:creationId xmlns:a16="http://schemas.microsoft.com/office/drawing/2014/main" id="{3128888E-A38F-333A-0A14-60CAF0BDAEDF}"/>
              </a:ext>
            </a:extLst>
          </p:cNvPr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>
            <a:extLst>
              <a:ext uri="{FF2B5EF4-FFF2-40B4-BE49-F238E27FC236}">
                <a16:creationId xmlns:a16="http://schemas.microsoft.com/office/drawing/2014/main" id="{36FD6984-4654-C00B-2414-BD7CDCD0F4BC}"/>
              </a:ext>
            </a:extLst>
          </p:cNvPr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>
            <a:extLst>
              <a:ext uri="{FF2B5EF4-FFF2-40B4-BE49-F238E27FC236}">
                <a16:creationId xmlns:a16="http://schemas.microsoft.com/office/drawing/2014/main" id="{BCB5223D-286E-1579-48E0-2A8B5FD18CB1}"/>
              </a:ext>
            </a:extLst>
          </p:cNvPr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>
            <a:extLst>
              <a:ext uri="{FF2B5EF4-FFF2-40B4-BE49-F238E27FC236}">
                <a16:creationId xmlns:a16="http://schemas.microsoft.com/office/drawing/2014/main" id="{3F733C39-EE85-C51B-F5CD-B46F4FCB8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003" y="1223158"/>
            <a:ext cx="777351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</a:p>
        </p:txBody>
      </p:sp>
      <p:sp>
        <p:nvSpPr>
          <p:cNvPr id="1048593" name="TextBox 2">
            <a:extLst>
              <a:ext uri="{FF2B5EF4-FFF2-40B4-BE49-F238E27FC236}">
                <a16:creationId xmlns:a16="http://schemas.microsoft.com/office/drawing/2014/main" id="{58A6594C-2AF7-427F-8917-09FB84C9998A}"/>
              </a:ext>
            </a:extLst>
          </p:cNvPr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9784DD3E-42BA-E6E3-D40F-2AB940F65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7" name="Google Shape;197;p21">
            <a:extLst>
              <a:ext uri="{FF2B5EF4-FFF2-40B4-BE49-F238E27FC236}">
                <a16:creationId xmlns:a16="http://schemas.microsoft.com/office/drawing/2014/main" id="{9C75E89F-5E76-8C6D-522D-D3D0370C8E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1025020"/>
              </p:ext>
            </p:extLst>
          </p:nvPr>
        </p:nvGraphicFramePr>
        <p:xfrm>
          <a:off x="518160" y="2091807"/>
          <a:ext cx="11262162" cy="27444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6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5441">
                  <a:extLst>
                    <a:ext uri="{9D8B030D-6E8A-4147-A177-3AD203B41FA5}">
                      <a16:colId xmlns:a16="http://schemas.microsoft.com/office/drawing/2014/main" val="2646259758"/>
                    </a:ext>
                  </a:extLst>
                </a:gridCol>
                <a:gridCol w="1563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2651">
                  <a:extLst>
                    <a:ext uri="{9D8B030D-6E8A-4147-A177-3AD203B41FA5}">
                      <a16:colId xmlns:a16="http://schemas.microsoft.com/office/drawing/2014/main" val="2099958923"/>
                    </a:ext>
                  </a:extLst>
                </a:gridCol>
                <a:gridCol w="2644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3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err="1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sz="1400" b="1" kern="10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.No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Author Name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Title of the Paper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Work Done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4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Duncan C McElfresh, Christian Kroer, Sergey </a:t>
                      </a:r>
                      <a:r>
                        <a:rPr lang="en-IN" sz="140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Pupyrev</a:t>
                      </a: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Matching Algorithms for Blood Donation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Proposed automated matching policies to connect donors with donation opportunities and improve donations.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Can be applied in real-world platforms with scalability, fairness constraints, and geo-aware donor assignment.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75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Neetu Mittal, Karan Snotra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2017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Blood bank information system using Android application</a:t>
                      </a:r>
                      <a:endParaRPr sz="14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Developed a blood bank information system for Android to help users access blood bank-related information.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Can be improved by adding live donor search, blood request tracking, cloud syncing.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28E088-62AC-5935-2DE5-9BC02A7C3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927120"/>
              </p:ext>
            </p:extLst>
          </p:nvPr>
        </p:nvGraphicFramePr>
        <p:xfrm>
          <a:off x="518160" y="4836303"/>
          <a:ext cx="11262162" cy="14630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86072">
                  <a:extLst>
                    <a:ext uri="{9D8B030D-6E8A-4147-A177-3AD203B41FA5}">
                      <a16:colId xmlns:a16="http://schemas.microsoft.com/office/drawing/2014/main" val="1845030857"/>
                    </a:ext>
                  </a:extLst>
                </a:gridCol>
                <a:gridCol w="1665441">
                  <a:extLst>
                    <a:ext uri="{9D8B030D-6E8A-4147-A177-3AD203B41FA5}">
                      <a16:colId xmlns:a16="http://schemas.microsoft.com/office/drawing/2014/main" val="1792758489"/>
                    </a:ext>
                  </a:extLst>
                </a:gridCol>
                <a:gridCol w="1563282">
                  <a:extLst>
                    <a:ext uri="{9D8B030D-6E8A-4147-A177-3AD203B41FA5}">
                      <a16:colId xmlns:a16="http://schemas.microsoft.com/office/drawing/2014/main" val="1825622543"/>
                    </a:ext>
                  </a:extLst>
                </a:gridCol>
                <a:gridCol w="2142651">
                  <a:extLst>
                    <a:ext uri="{9D8B030D-6E8A-4147-A177-3AD203B41FA5}">
                      <a16:colId xmlns:a16="http://schemas.microsoft.com/office/drawing/2014/main" val="815009322"/>
                    </a:ext>
                  </a:extLst>
                </a:gridCol>
                <a:gridCol w="2644357">
                  <a:extLst>
                    <a:ext uri="{9D8B030D-6E8A-4147-A177-3AD203B41FA5}">
                      <a16:colId xmlns:a16="http://schemas.microsoft.com/office/drawing/2014/main" val="399023337"/>
                    </a:ext>
                  </a:extLst>
                </a:gridCol>
                <a:gridCol w="2160359">
                  <a:extLst>
                    <a:ext uri="{9D8B030D-6E8A-4147-A177-3AD203B41FA5}">
                      <a16:colId xmlns:a16="http://schemas.microsoft.com/office/drawing/2014/main" val="939611630"/>
                    </a:ext>
                  </a:extLst>
                </a:gridCol>
              </a:tblGrid>
              <a:tr h="9233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95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CBRS Research Team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ea typeface="Aptos" panose="020F0502020204030204" pitchFamily="34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CBRS: Cognitive Blood Request System with Bilingual Dataset and Dual-Layer Filtering</a:t>
                      </a:r>
                      <a:endParaRPr lang="en-IN" sz="1400" i="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Proposed an AI/LLM-based system that detects emergency blood requests from social media using NLP and bilingual datasets.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Advanced NLP models, multilingual emergency detection, social media automation, and real-time crisis management systems.</a:t>
                      </a:r>
                      <a:endParaRPr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647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947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945E4-0260-4E7D-DF84-FF8FCE57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>
            <a:extLst>
              <a:ext uri="{FF2B5EF4-FFF2-40B4-BE49-F238E27FC236}">
                <a16:creationId xmlns:a16="http://schemas.microsoft.com/office/drawing/2014/main" id="{5617B4BC-28E5-C8DB-820F-2FC314F7A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>
            <a:extLst>
              <a:ext uri="{FF2B5EF4-FFF2-40B4-BE49-F238E27FC236}">
                <a16:creationId xmlns:a16="http://schemas.microsoft.com/office/drawing/2014/main" id="{7B74F29D-C739-3EA5-42A0-2DC86059406F}"/>
              </a:ext>
            </a:extLst>
          </p:cNvPr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>
            <a:extLst>
              <a:ext uri="{FF2B5EF4-FFF2-40B4-BE49-F238E27FC236}">
                <a16:creationId xmlns:a16="http://schemas.microsoft.com/office/drawing/2014/main" id="{D77A27D6-BD99-B4E8-0ABE-3051AEEA8F22}"/>
              </a:ext>
            </a:extLst>
          </p:cNvPr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>
            <a:extLst>
              <a:ext uri="{FF2B5EF4-FFF2-40B4-BE49-F238E27FC236}">
                <a16:creationId xmlns:a16="http://schemas.microsoft.com/office/drawing/2014/main" id="{3B8C1ACD-89C3-0F4F-854B-98345BBF2E85}"/>
              </a:ext>
            </a:extLst>
          </p:cNvPr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>
            <a:extLst>
              <a:ext uri="{FF2B5EF4-FFF2-40B4-BE49-F238E27FC236}">
                <a16:creationId xmlns:a16="http://schemas.microsoft.com/office/drawing/2014/main" id="{04B6104F-67B9-A2CE-6767-5B73DE5C1FC0}"/>
              </a:ext>
            </a:extLst>
          </p:cNvPr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>
            <a:extLst>
              <a:ext uri="{FF2B5EF4-FFF2-40B4-BE49-F238E27FC236}">
                <a16:creationId xmlns:a16="http://schemas.microsoft.com/office/drawing/2014/main" id="{A1413A7D-5443-7F7B-9500-448256BBC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003" y="1223158"/>
            <a:ext cx="777351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48593" name="TextBox 2">
            <a:extLst>
              <a:ext uri="{FF2B5EF4-FFF2-40B4-BE49-F238E27FC236}">
                <a16:creationId xmlns:a16="http://schemas.microsoft.com/office/drawing/2014/main" id="{B93CA6CF-ED60-93F1-E52B-A9EFC72B8A6B}"/>
              </a:ext>
            </a:extLst>
          </p:cNvPr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58CBB8D3-CF89-93BB-BE17-46F68EA40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ctangle 8">
            <a:extLst>
              <a:ext uri="{FF2B5EF4-FFF2-40B4-BE49-F238E27FC236}">
                <a16:creationId xmlns:a16="http://schemas.microsoft.com/office/drawing/2014/main" id="{318825DB-65B0-E963-8C85-D4C607B3DA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5771" y="1976738"/>
            <a:ext cx="11717774" cy="188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blood donation system depends on manual methods like phone calls and hospital records, which are slow during emergencies. Lack of a centralized platform causes delays in connecting donors, hospitals, and blood banks. Many systems also do not provide real-time blood availability or emergency alerts. In addition, outdated donor data and lack of verification reduce system reliability.</a:t>
            </a:r>
          </a:p>
        </p:txBody>
      </p:sp>
    </p:spTree>
    <p:extLst>
      <p:ext uri="{BB962C8B-B14F-4D97-AF65-F5344CB8AC3E}">
        <p14:creationId xmlns:p14="http://schemas.microsoft.com/office/powerpoint/2010/main" val="2243206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AD6D3-A8AC-3714-5B76-A671C7E9B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>
            <a:extLst>
              <a:ext uri="{FF2B5EF4-FFF2-40B4-BE49-F238E27FC236}">
                <a16:creationId xmlns:a16="http://schemas.microsoft.com/office/drawing/2014/main" id="{6076F7C1-F05E-D3DC-28C5-E0428B6ED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>
            <a:extLst>
              <a:ext uri="{FF2B5EF4-FFF2-40B4-BE49-F238E27FC236}">
                <a16:creationId xmlns:a16="http://schemas.microsoft.com/office/drawing/2014/main" id="{69667374-4462-56E7-13EC-75285669F8D4}"/>
              </a:ext>
            </a:extLst>
          </p:cNvPr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>
            <a:extLst>
              <a:ext uri="{FF2B5EF4-FFF2-40B4-BE49-F238E27FC236}">
                <a16:creationId xmlns:a16="http://schemas.microsoft.com/office/drawing/2014/main" id="{C96FA7EB-A9D0-6E91-2A00-A8A867E83C7B}"/>
              </a:ext>
            </a:extLst>
          </p:cNvPr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>
            <a:extLst>
              <a:ext uri="{FF2B5EF4-FFF2-40B4-BE49-F238E27FC236}">
                <a16:creationId xmlns:a16="http://schemas.microsoft.com/office/drawing/2014/main" id="{7C03229E-3719-D251-545B-7911E43F0B88}"/>
              </a:ext>
            </a:extLst>
          </p:cNvPr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>
            <a:extLst>
              <a:ext uri="{FF2B5EF4-FFF2-40B4-BE49-F238E27FC236}">
                <a16:creationId xmlns:a16="http://schemas.microsoft.com/office/drawing/2014/main" id="{88FB6AA8-6B68-2A49-844E-571B3BE5AAEA}"/>
              </a:ext>
            </a:extLst>
          </p:cNvPr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>
            <a:extLst>
              <a:ext uri="{FF2B5EF4-FFF2-40B4-BE49-F238E27FC236}">
                <a16:creationId xmlns:a16="http://schemas.microsoft.com/office/drawing/2014/main" id="{10737AB4-8248-F7CE-75E9-186E96F93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28" y="1223158"/>
            <a:ext cx="11758018" cy="69557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ctr"/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just">
              <a:lnSpc>
                <a:spcPct val="200000"/>
              </a:lnSpc>
              <a:buSzPts val="1600"/>
              <a:buFont typeface="Poppins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web-based blood donation system</a:t>
            </a:r>
          </a:p>
          <a:p>
            <a:pPr marL="457200" lvl="0" indent="-317500" algn="just">
              <a:lnSpc>
                <a:spcPct val="200000"/>
              </a:lnSpc>
              <a:buSzPts val="1400"/>
              <a:buFont typeface="Poppins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create a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donors and blood banks</a:t>
            </a:r>
          </a:p>
          <a:p>
            <a:pPr marL="457200" lvl="0" indent="-317500" algn="just">
              <a:lnSpc>
                <a:spcPct val="200000"/>
              </a:lnSpc>
              <a:buSzPts val="1400"/>
              <a:buFont typeface="Poppins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enable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tracking of blood availability</a:t>
            </a:r>
          </a:p>
          <a:p>
            <a:pPr marL="457200" lvl="0" indent="-317500" algn="just">
              <a:lnSpc>
                <a:spcPct val="200000"/>
              </a:lnSpc>
              <a:buSzPts val="1400"/>
              <a:buFont typeface="Poppins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location-based donor matching</a:t>
            </a:r>
          </a:p>
          <a:p>
            <a:pPr marL="457200" lvl="0" indent="-317500" algn="just">
              <a:lnSpc>
                <a:spcPct val="200000"/>
              </a:lnSpc>
              <a:buSzPts val="1400"/>
              <a:buFont typeface="Poppins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notification system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emergencies</a:t>
            </a:r>
          </a:p>
          <a:p>
            <a:pPr algn="just">
              <a:lnSpc>
                <a:spcPct val="200000"/>
              </a:lnSpc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3" name="TextBox 2">
            <a:extLst>
              <a:ext uri="{FF2B5EF4-FFF2-40B4-BE49-F238E27FC236}">
                <a16:creationId xmlns:a16="http://schemas.microsoft.com/office/drawing/2014/main" id="{46FEDDB4-40F4-65EF-8C01-79C7C73CA657}"/>
              </a:ext>
            </a:extLst>
          </p:cNvPr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9318B775-40DB-89FA-67AF-5D9C495DE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676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44FE4-439F-F06B-1516-DB5843537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>
            <a:extLst>
              <a:ext uri="{FF2B5EF4-FFF2-40B4-BE49-F238E27FC236}">
                <a16:creationId xmlns:a16="http://schemas.microsoft.com/office/drawing/2014/main" id="{CC40F4AE-6EDA-61B3-B468-3E07F0E57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>
            <a:extLst>
              <a:ext uri="{FF2B5EF4-FFF2-40B4-BE49-F238E27FC236}">
                <a16:creationId xmlns:a16="http://schemas.microsoft.com/office/drawing/2014/main" id="{12DC5F31-370B-9F23-A896-A6EAECFC8622}"/>
              </a:ext>
            </a:extLst>
          </p:cNvPr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>
            <a:extLst>
              <a:ext uri="{FF2B5EF4-FFF2-40B4-BE49-F238E27FC236}">
                <a16:creationId xmlns:a16="http://schemas.microsoft.com/office/drawing/2014/main" id="{BD2D98C1-9B40-9EF6-9DA5-CFDE4D9B5CAE}"/>
              </a:ext>
            </a:extLst>
          </p:cNvPr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>
            <a:extLst>
              <a:ext uri="{FF2B5EF4-FFF2-40B4-BE49-F238E27FC236}">
                <a16:creationId xmlns:a16="http://schemas.microsoft.com/office/drawing/2014/main" id="{D6EB73A8-46CB-AC8C-E97C-DD25F2E5EDFC}"/>
              </a:ext>
            </a:extLst>
          </p:cNvPr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>
            <a:extLst>
              <a:ext uri="{FF2B5EF4-FFF2-40B4-BE49-F238E27FC236}">
                <a16:creationId xmlns:a16="http://schemas.microsoft.com/office/drawing/2014/main" id="{08427BFC-9217-95EB-0BAC-460BBDA2C46E}"/>
              </a:ext>
            </a:extLst>
          </p:cNvPr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>
            <a:extLst>
              <a:ext uri="{FF2B5EF4-FFF2-40B4-BE49-F238E27FC236}">
                <a16:creationId xmlns:a16="http://schemas.microsoft.com/office/drawing/2014/main" id="{FA847174-D72A-3323-EE92-88013718C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003" y="1223158"/>
            <a:ext cx="777351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048593" name="TextBox 2">
            <a:extLst>
              <a:ext uri="{FF2B5EF4-FFF2-40B4-BE49-F238E27FC236}">
                <a16:creationId xmlns:a16="http://schemas.microsoft.com/office/drawing/2014/main" id="{2368556E-B730-50FE-18A4-B4592883031F}"/>
              </a:ext>
            </a:extLst>
          </p:cNvPr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65016FE1-130E-3C03-A491-3AB064338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352189-389F-47F5-BE31-06093FE99C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706" y="1854642"/>
            <a:ext cx="5043055" cy="463402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0EE592-61A6-A0B8-E387-69B7C8ED0892}"/>
              </a:ext>
            </a:extLst>
          </p:cNvPr>
          <p:cNvSpPr/>
          <p:nvPr/>
        </p:nvSpPr>
        <p:spPr>
          <a:xfrm>
            <a:off x="4998758" y="1838711"/>
            <a:ext cx="2032000" cy="215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490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56D2-1B1A-15DF-664D-333206A4E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>
            <a:extLst>
              <a:ext uri="{FF2B5EF4-FFF2-40B4-BE49-F238E27FC236}">
                <a16:creationId xmlns:a16="http://schemas.microsoft.com/office/drawing/2014/main" id="{51EDA006-C234-742F-7068-13B2F8D30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>
            <a:extLst>
              <a:ext uri="{FF2B5EF4-FFF2-40B4-BE49-F238E27FC236}">
                <a16:creationId xmlns:a16="http://schemas.microsoft.com/office/drawing/2014/main" id="{18590D40-570D-2DDE-BA16-B7B2A0090F04}"/>
              </a:ext>
            </a:extLst>
          </p:cNvPr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>
            <a:extLst>
              <a:ext uri="{FF2B5EF4-FFF2-40B4-BE49-F238E27FC236}">
                <a16:creationId xmlns:a16="http://schemas.microsoft.com/office/drawing/2014/main" id="{F053EAD6-7043-D6CE-F482-02842C35F228}"/>
              </a:ext>
            </a:extLst>
          </p:cNvPr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>
            <a:extLst>
              <a:ext uri="{FF2B5EF4-FFF2-40B4-BE49-F238E27FC236}">
                <a16:creationId xmlns:a16="http://schemas.microsoft.com/office/drawing/2014/main" id="{6A7D4ACA-03DD-18F2-7C31-8EC0D811AE51}"/>
              </a:ext>
            </a:extLst>
          </p:cNvPr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>
            <a:extLst>
              <a:ext uri="{FF2B5EF4-FFF2-40B4-BE49-F238E27FC236}">
                <a16:creationId xmlns:a16="http://schemas.microsoft.com/office/drawing/2014/main" id="{91505E03-3513-1D91-370C-16679516B12E}"/>
              </a:ext>
            </a:extLst>
          </p:cNvPr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>
            <a:extLst>
              <a:ext uri="{FF2B5EF4-FFF2-40B4-BE49-F238E27FC236}">
                <a16:creationId xmlns:a16="http://schemas.microsoft.com/office/drawing/2014/main" id="{FCC71998-CC7E-04A9-53C9-65BC9E574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003" y="1223158"/>
            <a:ext cx="777351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1048593" name="TextBox 2">
            <a:extLst>
              <a:ext uri="{FF2B5EF4-FFF2-40B4-BE49-F238E27FC236}">
                <a16:creationId xmlns:a16="http://schemas.microsoft.com/office/drawing/2014/main" id="{AB02A118-98F7-33AD-9976-4FD01DDE337A}"/>
              </a:ext>
            </a:extLst>
          </p:cNvPr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D0DBD923-5453-DE87-E01A-49A7421F8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8E28110-18EB-A384-C535-A83AB19C00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8451" y="1749487"/>
            <a:ext cx="10432473" cy="203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Windows 10 / Windows 11 / Linux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Frontend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JavaScript, Bootstrap / React.js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Backend: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/ PHP / Node.js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Database: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/ MongoDB / Firebase </a:t>
            </a:r>
          </a:p>
        </p:txBody>
      </p:sp>
    </p:spTree>
    <p:extLst>
      <p:ext uri="{BB962C8B-B14F-4D97-AF65-F5344CB8AC3E}">
        <p14:creationId xmlns:p14="http://schemas.microsoft.com/office/powerpoint/2010/main" val="3278024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24F3D-148D-6CB1-3E2C-DD332E67D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>
            <a:extLst>
              <a:ext uri="{FF2B5EF4-FFF2-40B4-BE49-F238E27FC236}">
                <a16:creationId xmlns:a16="http://schemas.microsoft.com/office/drawing/2014/main" id="{2D50663D-2E94-D2D2-C9FD-814DED5C2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>
            <a:extLst>
              <a:ext uri="{FF2B5EF4-FFF2-40B4-BE49-F238E27FC236}">
                <a16:creationId xmlns:a16="http://schemas.microsoft.com/office/drawing/2014/main" id="{66E46CE8-81D4-D8B8-6429-63295E4A1749}"/>
              </a:ext>
            </a:extLst>
          </p:cNvPr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>
            <a:extLst>
              <a:ext uri="{FF2B5EF4-FFF2-40B4-BE49-F238E27FC236}">
                <a16:creationId xmlns:a16="http://schemas.microsoft.com/office/drawing/2014/main" id="{A3B99535-893D-EA21-BA5E-0C72001DF4B0}"/>
              </a:ext>
            </a:extLst>
          </p:cNvPr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>
            <a:extLst>
              <a:ext uri="{FF2B5EF4-FFF2-40B4-BE49-F238E27FC236}">
                <a16:creationId xmlns:a16="http://schemas.microsoft.com/office/drawing/2014/main" id="{B722C3CB-9FF9-79B1-1685-5A0CC3818C93}"/>
              </a:ext>
            </a:extLst>
          </p:cNvPr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>
            <a:extLst>
              <a:ext uri="{FF2B5EF4-FFF2-40B4-BE49-F238E27FC236}">
                <a16:creationId xmlns:a16="http://schemas.microsoft.com/office/drawing/2014/main" id="{14990962-3BB4-3506-A235-8AE3E37BFE78}"/>
              </a:ext>
            </a:extLst>
          </p:cNvPr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>
            <a:extLst>
              <a:ext uri="{FF2B5EF4-FFF2-40B4-BE49-F238E27FC236}">
                <a16:creationId xmlns:a16="http://schemas.microsoft.com/office/drawing/2014/main" id="{1CEC4F9F-70B4-175B-6D6A-83105238C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003" y="1223158"/>
            <a:ext cx="777351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sp>
        <p:nvSpPr>
          <p:cNvPr id="1048593" name="TextBox 2">
            <a:extLst>
              <a:ext uri="{FF2B5EF4-FFF2-40B4-BE49-F238E27FC236}">
                <a16:creationId xmlns:a16="http://schemas.microsoft.com/office/drawing/2014/main" id="{29A802AF-ECD2-6845-C5FB-8EC0AB16C359}"/>
              </a:ext>
            </a:extLst>
          </p:cNvPr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CCC5D3B5-EC80-741E-BC17-39836B07F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ACD871C-6012-9783-AD7F-EF57206F5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49178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2000" dirty="0"/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i3/i5 or higher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RAM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GB or above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 GB free space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System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64-bit Laptop/Desktop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869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12E2B-B6B6-3929-2612-9651A275E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>
            <a:extLst>
              <a:ext uri="{FF2B5EF4-FFF2-40B4-BE49-F238E27FC236}">
                <a16:creationId xmlns:a16="http://schemas.microsoft.com/office/drawing/2014/main" id="{E3BECC5D-8373-6DC7-4057-269974166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>
            <a:extLst>
              <a:ext uri="{FF2B5EF4-FFF2-40B4-BE49-F238E27FC236}">
                <a16:creationId xmlns:a16="http://schemas.microsoft.com/office/drawing/2014/main" id="{F0870123-DB0F-F282-B354-1405B3D97A8B}"/>
              </a:ext>
            </a:extLst>
          </p:cNvPr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>
            <a:extLst>
              <a:ext uri="{FF2B5EF4-FFF2-40B4-BE49-F238E27FC236}">
                <a16:creationId xmlns:a16="http://schemas.microsoft.com/office/drawing/2014/main" id="{01775508-F527-45FE-F053-82F090D1C479}"/>
              </a:ext>
            </a:extLst>
          </p:cNvPr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>
            <a:extLst>
              <a:ext uri="{FF2B5EF4-FFF2-40B4-BE49-F238E27FC236}">
                <a16:creationId xmlns:a16="http://schemas.microsoft.com/office/drawing/2014/main" id="{31EEAE2D-DA64-67E0-19B2-A51206DF9974}"/>
              </a:ext>
            </a:extLst>
          </p:cNvPr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>
            <a:extLst>
              <a:ext uri="{FF2B5EF4-FFF2-40B4-BE49-F238E27FC236}">
                <a16:creationId xmlns:a16="http://schemas.microsoft.com/office/drawing/2014/main" id="{490BB955-D861-2736-2FF3-F28355F23950}"/>
              </a:ext>
            </a:extLst>
          </p:cNvPr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>
            <a:extLst>
              <a:ext uri="{FF2B5EF4-FFF2-40B4-BE49-F238E27FC236}">
                <a16:creationId xmlns:a16="http://schemas.microsoft.com/office/drawing/2014/main" id="{696A2629-5B18-5E2B-5114-D9DF16841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003" y="1223158"/>
            <a:ext cx="777351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1048593" name="TextBox 2">
            <a:extLst>
              <a:ext uri="{FF2B5EF4-FFF2-40B4-BE49-F238E27FC236}">
                <a16:creationId xmlns:a16="http://schemas.microsoft.com/office/drawing/2014/main" id="{8DB2BD5D-7C0D-AB95-F2D7-CBC0040634D1}"/>
              </a:ext>
            </a:extLst>
          </p:cNvPr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DF784829-D067-0B8E-4295-73A3FDD84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AE06D5A-0A83-5490-9AFE-298C9EC6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donor search during emergencies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blood availability updates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 communication between donors and hospitals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management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work and time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Location-based donor matching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Emergency notifications and alerts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and verified donor information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86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062ED-2794-C763-BCB1-D91BE8F41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>
            <a:extLst>
              <a:ext uri="{FF2B5EF4-FFF2-40B4-BE49-F238E27FC236}">
                <a16:creationId xmlns:a16="http://schemas.microsoft.com/office/drawing/2014/main" id="{2B4B5939-E226-3580-E7E3-EEBB8BC74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>
            <a:extLst>
              <a:ext uri="{FF2B5EF4-FFF2-40B4-BE49-F238E27FC236}">
                <a16:creationId xmlns:a16="http://schemas.microsoft.com/office/drawing/2014/main" id="{B32B14C6-4B19-F971-CD20-E0F75A61B4C9}"/>
              </a:ext>
            </a:extLst>
          </p:cNvPr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>
            <a:extLst>
              <a:ext uri="{FF2B5EF4-FFF2-40B4-BE49-F238E27FC236}">
                <a16:creationId xmlns:a16="http://schemas.microsoft.com/office/drawing/2014/main" id="{07F3B440-FBF2-B342-A7AE-0248FBDFE535}"/>
              </a:ext>
            </a:extLst>
          </p:cNvPr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>
            <a:extLst>
              <a:ext uri="{FF2B5EF4-FFF2-40B4-BE49-F238E27FC236}">
                <a16:creationId xmlns:a16="http://schemas.microsoft.com/office/drawing/2014/main" id="{DAF74D56-2860-23F7-9F4D-7256CCF6B4B1}"/>
              </a:ext>
            </a:extLst>
          </p:cNvPr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>
            <a:extLst>
              <a:ext uri="{FF2B5EF4-FFF2-40B4-BE49-F238E27FC236}">
                <a16:creationId xmlns:a16="http://schemas.microsoft.com/office/drawing/2014/main" id="{A9D01E77-E021-8DF6-D7A7-A02DFAF7F087}"/>
              </a:ext>
            </a:extLst>
          </p:cNvPr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>
            <a:extLst>
              <a:ext uri="{FF2B5EF4-FFF2-40B4-BE49-F238E27FC236}">
                <a16:creationId xmlns:a16="http://schemas.microsoft.com/office/drawing/2014/main" id="{D02B1493-90C5-1E35-04C5-8F7BB8FB7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003" y="1223158"/>
            <a:ext cx="777351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EXCPECTED OUTCOME</a:t>
            </a:r>
          </a:p>
        </p:txBody>
      </p:sp>
      <p:sp>
        <p:nvSpPr>
          <p:cNvPr id="1048593" name="TextBox 2">
            <a:extLst>
              <a:ext uri="{FF2B5EF4-FFF2-40B4-BE49-F238E27FC236}">
                <a16:creationId xmlns:a16="http://schemas.microsoft.com/office/drawing/2014/main" id="{C20DF29B-0AA5-709B-0E4A-7C37F7C578F8}"/>
              </a:ext>
            </a:extLst>
          </p:cNvPr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A2D476E0-D7B9-E7E0-E334-508D35B9E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CA0E474D-5EF0-E6FD-8BEA-290C0E6D6F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20882"/>
            <a:ext cx="9521789" cy="4038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Quick identification of suitable blood donors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Real-time blood availability and donor updates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Reduced delay during emergencies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Centralized and secure donor management system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Improved communication between hospitals, donors, and blood banks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Faster response through emergency notifications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Easy access using a web-based platform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Increased efficiency and reliability in blood donation services </a:t>
            </a:r>
          </a:p>
        </p:txBody>
      </p:sp>
    </p:spTree>
    <p:extLst>
      <p:ext uri="{BB962C8B-B14F-4D97-AF65-F5344CB8AC3E}">
        <p14:creationId xmlns:p14="http://schemas.microsoft.com/office/powerpoint/2010/main" val="2049287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B6B73-D8A9-C10B-800A-FBBBD61B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7">
            <a:extLst>
              <a:ext uri="{FF2B5EF4-FFF2-40B4-BE49-F238E27FC236}">
                <a16:creationId xmlns:a16="http://schemas.microsoft.com/office/drawing/2014/main" id="{49A94817-0C08-CCD0-4980-ECC883384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8" y="-1"/>
            <a:ext cx="1249005" cy="9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6" name="Rectangle 4">
            <a:extLst>
              <a:ext uri="{FF2B5EF4-FFF2-40B4-BE49-F238E27FC236}">
                <a16:creationId xmlns:a16="http://schemas.microsoft.com/office/drawing/2014/main" id="{982823C6-E134-D4F3-B878-3DD714F8FF8B}"/>
              </a:ext>
            </a:extLst>
          </p:cNvPr>
          <p:cNvSpPr/>
          <p:nvPr/>
        </p:nvSpPr>
        <p:spPr>
          <a:xfrm>
            <a:off x="6589" y="994045"/>
            <a:ext cx="12192000" cy="4571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Rectangle 5">
            <a:extLst>
              <a:ext uri="{FF2B5EF4-FFF2-40B4-BE49-F238E27FC236}">
                <a16:creationId xmlns:a16="http://schemas.microsoft.com/office/drawing/2014/main" id="{65D17A32-719B-0181-C531-50748D9160E3}"/>
              </a:ext>
            </a:extLst>
          </p:cNvPr>
          <p:cNvSpPr/>
          <p:nvPr/>
        </p:nvSpPr>
        <p:spPr>
          <a:xfrm>
            <a:off x="-3766" y="1088010"/>
            <a:ext cx="12192000" cy="119217"/>
          </a:xfrm>
          <a:prstGeom prst="rect">
            <a:avLst/>
          </a:prstGeom>
          <a:solidFill>
            <a:srgbClr val="D60093"/>
          </a:solidFill>
        </p:spPr>
        <p:txBody>
          <a:bodyPr wrap="square" lIns="0" tIns="0" rIns="0" bIns="0" rtlCol="0"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1048588" name="TextBox 6">
            <a:extLst>
              <a:ext uri="{FF2B5EF4-FFF2-40B4-BE49-F238E27FC236}">
                <a16:creationId xmlns:a16="http://schemas.microsoft.com/office/drawing/2014/main" id="{007BE070-72B3-30BC-D138-4EBF48528571}"/>
              </a:ext>
            </a:extLst>
          </p:cNvPr>
          <p:cNvSpPr txBox="1"/>
          <p:nvPr/>
        </p:nvSpPr>
        <p:spPr>
          <a:xfrm>
            <a:off x="9751966" y="-54232"/>
            <a:ext cx="224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solidFill>
                <a:schemeClr val="accent5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48589" name="Rectangle 11">
            <a:extLst>
              <a:ext uri="{FF2B5EF4-FFF2-40B4-BE49-F238E27FC236}">
                <a16:creationId xmlns:a16="http://schemas.microsoft.com/office/drawing/2014/main" id="{42CC54C2-BE48-E43A-43D8-64A663C9F7E1}"/>
              </a:ext>
            </a:extLst>
          </p:cNvPr>
          <p:cNvSpPr/>
          <p:nvPr/>
        </p:nvSpPr>
        <p:spPr>
          <a:xfrm>
            <a:off x="1341912" y="1"/>
            <a:ext cx="9250877" cy="931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Vikas</a:t>
            </a: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Engineering and Technology, </a:t>
            </a:r>
            <a:r>
              <a:rPr lang="en-US" alt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Mysuru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0" name="Rectangle 1">
            <a:extLst>
              <a:ext uri="{FF2B5EF4-FFF2-40B4-BE49-F238E27FC236}">
                <a16:creationId xmlns:a16="http://schemas.microsoft.com/office/drawing/2014/main" id="{171AA28B-D744-06AD-8014-188AE6D80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003" y="1223158"/>
            <a:ext cx="777351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48593" name="TextBox 2">
            <a:extLst>
              <a:ext uri="{FF2B5EF4-FFF2-40B4-BE49-F238E27FC236}">
                <a16:creationId xmlns:a16="http://schemas.microsoft.com/office/drawing/2014/main" id="{5981E63C-768E-9D33-4433-FFC07BBE9819}"/>
              </a:ext>
            </a:extLst>
          </p:cNvPr>
          <p:cNvSpPr txBox="1"/>
          <p:nvPr/>
        </p:nvSpPr>
        <p:spPr>
          <a:xfrm>
            <a:off x="5454525" y="6488668"/>
            <a:ext cx="1500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D7116973-D2D8-DE9D-AA43-9CDE1306B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916" y="0"/>
            <a:ext cx="1104405" cy="100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10D587A-3F35-45BE-3C62-86E2075D2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888" y="2137330"/>
            <a:ext cx="10919992" cy="4351338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Intelligent Web Based Online Blood Donation System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Putcha Uma Pratyusha, Koganti Chaitanya, Amruth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Saranam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Kotaprolu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Manideep, S. Kranthi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Conference: IEEE ICOSEC 2021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Blood Bank System for Managing Records of Donors and Receipts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Manvir Kaur et al.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Conference: IEEE CISES 2022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Bank Management System: Enhancing Security and Transparency in Blood Donation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J.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Nulyn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Punitha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Markavathi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 Paper, 2025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an Online Blood Donation System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Tahiru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Abdul-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Gafaru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David Sanka Laar, Kennedy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Kumangkem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Kubuga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Journal: Asian Journal of Research in Computer Science, 2024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Project Based Emergency E-Blood Banking Management System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T. Kowsalya et al.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Published: 2025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045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1447</TotalTime>
  <Words>1586</Words>
  <Application>Microsoft Office PowerPoint</Application>
  <PresentationFormat>Widescreen</PresentationFormat>
  <Paragraphs>246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Poppins</vt:lpstr>
      <vt:lpstr>Times New Roman</vt:lpstr>
      <vt:lpstr>Wingdings</vt:lpstr>
      <vt:lpstr>Office Theme</vt:lpstr>
      <vt:lpstr>     PRESENTED BY   AMAN JAIN P                     4VM23CS002    PRIYANKA R                      4VM23CS038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by:  NAME                         USN      Brunda N                 - 4VM19IS007 Renuka S                 - 4VM19IS033 Shivani BM             - 4VM19IS037 Swathi R Bhat        - 4VM19IS042</dc:title>
  <dc:creator>Mohan babu S</dc:creator>
  <cp:lastModifiedBy>Aman Jain P</cp:lastModifiedBy>
  <cp:revision>49</cp:revision>
  <dcterms:created xsi:type="dcterms:W3CDTF">2022-12-17T06:08:39Z</dcterms:created>
  <dcterms:modified xsi:type="dcterms:W3CDTF">2026-05-17T17:16:23Z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fb9ea83d22394265b3f8601dd4d1df6b</vt:lpwstr>
  </property>
</Properties>
</file>